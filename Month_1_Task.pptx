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7" r:id="rId1"/>
  </p:sldMasterIdLst>
  <p:sldIdLst>
    <p:sldId id="256" r:id="rId2"/>
    <p:sldId id="260" r:id="rId3"/>
    <p:sldId id="257" r:id="rId4"/>
    <p:sldId id="258" r:id="rId5"/>
    <p:sldId id="259" r:id="rId6"/>
    <p:sldId id="262" r:id="rId7"/>
    <p:sldId id="261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E567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6A8F9-A285-4861-91CA-6F980C179077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C3C7F293-48BA-4884-8B1B-E39D436890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37082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6A8F9-A285-4861-91CA-6F980C179077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7F293-48BA-4884-8B1B-E39D436890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16217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6A8F9-A285-4861-91CA-6F980C179077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C3C7F293-48BA-4884-8B1B-E39D436890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46926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6A8F9-A285-4861-91CA-6F980C179077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7F293-48BA-4884-8B1B-E39D436890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16966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6A8F9-A285-4861-91CA-6F980C179077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7F293-48BA-4884-8B1B-E39D436890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2714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6A8F9-A285-4861-91CA-6F980C179077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7F293-48BA-4884-8B1B-E39D436890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8064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6A8F9-A285-4861-91CA-6F980C179077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7F293-48BA-4884-8B1B-E39D436890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34495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6A8F9-A285-4861-91CA-6F980C179077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7F293-48BA-4884-8B1B-E39D436890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73789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6A8F9-A285-4861-91CA-6F980C179077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7F293-48BA-4884-8B1B-E39D436890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57001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6A8F9-A285-4861-91CA-6F980C179077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C3C7F293-48BA-4884-8B1B-E39D436890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30158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6A8F9-A285-4861-91CA-6F980C179077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C3C7F293-48BA-4884-8B1B-E39D436890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1593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6A8F9-A285-4861-91CA-6F980C179077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C3C7F293-48BA-4884-8B1B-E39D4368903F}" type="slidenum">
              <a:rPr lang="en-IN" smtClean="0"/>
              <a:t>‹#›</a:t>
            </a:fld>
            <a:endParaRPr lang="en-IN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971244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6A8F9-A285-4861-91CA-6F980C179077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C3C7F293-48BA-4884-8B1B-E39D436890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0220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6A8F9-A285-4861-91CA-6F980C179077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7F293-48BA-4884-8B1B-E39D436890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29368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6A8F9-A285-4861-91CA-6F980C179077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7F293-48BA-4884-8B1B-E39D436890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84337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6A8F9-A285-4861-91CA-6F980C179077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7F293-48BA-4884-8B1B-E39D436890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80346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B9E6A8F9-A285-4861-91CA-6F980C179077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C3C7F293-48BA-4884-8B1B-E39D436890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84961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E6A8F9-A285-4861-91CA-6F980C179077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C7F293-48BA-4884-8B1B-E39D436890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421620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58" r:id="rId1"/>
    <p:sldLayoutId id="2147483859" r:id="rId2"/>
    <p:sldLayoutId id="2147483860" r:id="rId3"/>
    <p:sldLayoutId id="2147483861" r:id="rId4"/>
    <p:sldLayoutId id="2147483862" r:id="rId5"/>
    <p:sldLayoutId id="2147483863" r:id="rId6"/>
    <p:sldLayoutId id="2147483864" r:id="rId7"/>
    <p:sldLayoutId id="2147483865" r:id="rId8"/>
    <p:sldLayoutId id="2147483866" r:id="rId9"/>
    <p:sldLayoutId id="2147483867" r:id="rId10"/>
    <p:sldLayoutId id="2147483868" r:id="rId11"/>
    <p:sldLayoutId id="2147483869" r:id="rId12"/>
    <p:sldLayoutId id="2147483870" r:id="rId13"/>
    <p:sldLayoutId id="2147483871" r:id="rId14"/>
    <p:sldLayoutId id="2147483872" r:id="rId15"/>
    <p:sldLayoutId id="2147483873" r:id="rId16"/>
    <p:sldLayoutId id="2147483874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AC462-5774-4902-5F7E-82ED0F329B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656" y="1393371"/>
            <a:ext cx="12729029" cy="5065485"/>
          </a:xfrm>
        </p:spPr>
        <p:txBody>
          <a:bodyPr>
            <a:normAutofit/>
          </a:bodyPr>
          <a:lstStyle/>
          <a:p>
            <a:pPr algn="l"/>
            <a:r>
              <a:rPr lang="en-US" sz="3200" b="1" dirty="0">
                <a:solidFill>
                  <a:schemeClr val="tx1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MULTI-TOUCH MARKETING</a:t>
            </a:r>
            <a:b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solidFill>
                  <a:schemeClr val="tx1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ATTRIBUTION AND ROI DASHBOARD</a:t>
            </a:r>
            <a:br>
              <a:rPr lang="en-US" sz="5400" b="1" dirty="0">
                <a:solidFill>
                  <a:schemeClr val="tx1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</a:br>
            <a:br>
              <a:rPr lang="en-US" sz="6000" b="1" dirty="0"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</a:br>
            <a:b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6000" dirty="0">
              <a:solidFill>
                <a:schemeClr val="tx1"/>
              </a:solidFill>
            </a:endParaRP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453CC38B-5A47-BE84-3267-ABD6D65D39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852" y="4542404"/>
            <a:ext cx="8144134" cy="1117687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INTERNSHIP PROJECT PRESENTATION</a:t>
            </a:r>
            <a:endParaRPr lang="en-IN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1D0D25-DC33-B777-8766-B8D757929197}"/>
              </a:ext>
            </a:extLst>
          </p:cNvPr>
          <p:cNvSpPr txBox="1"/>
          <p:nvPr/>
        </p:nvSpPr>
        <p:spPr>
          <a:xfrm>
            <a:off x="1224489" y="4952205"/>
            <a:ext cx="761241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SUBMITTED BY : GROUP 10</a:t>
            </a:r>
          </a:p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SUBMITTED TO:  INFOTACT SOLUTIONS 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32898924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E3ABF-E331-08D3-FD37-86C74472B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494" y="739160"/>
            <a:ext cx="9613861" cy="1080938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35905F8-CB2B-177C-8FFC-F6CE27829F8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00494" y="1468760"/>
            <a:ext cx="10839827" cy="42101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fontAlgn="base">
              <a:lnSpc>
                <a:spcPct val="150000"/>
              </a:lnSpc>
              <a:spcAft>
                <a:spcPct val="0"/>
              </a:spcAft>
              <a:buClrTx/>
              <a:buSzTx/>
              <a:tabLst/>
            </a:pP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fontAlgn="base">
              <a:lnSpc>
                <a:spcPct val="150000"/>
              </a:lnSpc>
              <a:spcAft>
                <a:spcPct val="0"/>
              </a:spcAft>
              <a:buClrTx/>
              <a:buSzTx/>
              <a:tabLst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is about marketing ads and customer journey.</a:t>
            </a:r>
          </a:p>
          <a:p>
            <a:pPr marR="0" lvl="0" fontAlgn="base">
              <a:lnSpc>
                <a:spcPct val="150000"/>
              </a:lnSpc>
              <a:spcAft>
                <a:spcPct val="0"/>
              </a:spcAft>
              <a:buClrTx/>
              <a:buSzTx/>
              <a:tabLst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Companies use many ads like Google, Facebook, Instagram etc.</a:t>
            </a:r>
          </a:p>
          <a:p>
            <a:pPr marR="0" lvl="0" fontAlgn="base">
              <a:lnSpc>
                <a:spcPct val="150000"/>
              </a:lnSpc>
              <a:spcAft>
                <a:spcPct val="0"/>
              </a:spcAft>
              <a:buClrTx/>
              <a:buSzTx/>
              <a:tabLst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 interact with many ads before buying.</a:t>
            </a:r>
          </a:p>
          <a:p>
            <a:pPr marR="0" lvl="0" fontAlgn="base">
              <a:lnSpc>
                <a:spcPct val="150000"/>
              </a:lnSpc>
              <a:spcAft>
                <a:spcPct val="0"/>
              </a:spcAft>
              <a:buClrTx/>
              <a:buSzTx/>
              <a:tabLst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analyze how these ads help in conversion.</a:t>
            </a:r>
          </a:p>
        </p:txBody>
      </p:sp>
    </p:spTree>
    <p:extLst>
      <p:ext uri="{BB962C8B-B14F-4D97-AF65-F5344CB8AC3E}">
        <p14:creationId xmlns:p14="http://schemas.microsoft.com/office/powerpoint/2010/main" val="40784147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09A15-8275-752F-CB57-FC9E06311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898" y="815593"/>
            <a:ext cx="10652760" cy="1450757"/>
          </a:xfrm>
        </p:spPr>
        <p:txBody>
          <a:bodyPr>
            <a:norm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br>
              <a:rPr lang="en-IN" sz="4000" dirty="0"/>
            </a:br>
            <a:endParaRPr lang="en-IN" sz="40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E8CF320-BFCC-B9EC-3325-B949B6E73F4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59898" y="2100385"/>
            <a:ext cx="11247120" cy="56579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 click multiple ads before buying.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Last-click method gives wrong results.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difficult to know which ad actually helped.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a better system to track correct ad impact.</a:t>
            </a:r>
          </a:p>
          <a:p>
            <a:pPr>
              <a:lnSpc>
                <a:spcPct val="150000"/>
              </a:lnSpc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46296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F1AFF1-0ACE-E33D-94D3-98F8C7838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FFA0C-4C2E-2F2F-6A22-10274DE407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153" y="635471"/>
            <a:ext cx="10652760" cy="1450757"/>
          </a:xfrm>
        </p:spPr>
        <p:txBody>
          <a:bodyPr>
            <a:norm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EA6FE98-AABD-8DD7-AD5C-F2C311005D6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05153" y="2953132"/>
            <a:ext cx="11247120" cy="39241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C8EDBED2-133F-9F45-DF55-4996D0459226}"/>
              </a:ext>
            </a:extLst>
          </p:cNvPr>
          <p:cNvSpPr/>
          <p:nvPr/>
        </p:nvSpPr>
        <p:spPr>
          <a:xfrm>
            <a:off x="9326880" y="2672862"/>
            <a:ext cx="2419643" cy="2335236"/>
          </a:xfrm>
          <a:prstGeom prst="flowChartConnector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Flowchart: Connector 13">
            <a:extLst>
              <a:ext uri="{FF2B5EF4-FFF2-40B4-BE49-F238E27FC236}">
                <a16:creationId xmlns:a16="http://schemas.microsoft.com/office/drawing/2014/main" id="{DA4CB44D-D1FE-365A-93AF-6E27CE823E16}"/>
              </a:ext>
            </a:extLst>
          </p:cNvPr>
          <p:cNvSpPr/>
          <p:nvPr/>
        </p:nvSpPr>
        <p:spPr>
          <a:xfrm>
            <a:off x="9481624" y="2827606"/>
            <a:ext cx="2110153" cy="202574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Flowchart: Connector 14">
            <a:extLst>
              <a:ext uri="{FF2B5EF4-FFF2-40B4-BE49-F238E27FC236}">
                <a16:creationId xmlns:a16="http://schemas.microsoft.com/office/drawing/2014/main" id="{05678910-D3A3-5EFD-D86B-7BDAA3613B98}"/>
              </a:ext>
            </a:extLst>
          </p:cNvPr>
          <p:cNvSpPr/>
          <p:nvPr/>
        </p:nvSpPr>
        <p:spPr>
          <a:xfrm>
            <a:off x="9636369" y="2968283"/>
            <a:ext cx="1800662" cy="1751427"/>
          </a:xfrm>
          <a:prstGeom prst="flowChartConnector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Flowchart: Connector 15">
            <a:extLst>
              <a:ext uri="{FF2B5EF4-FFF2-40B4-BE49-F238E27FC236}">
                <a16:creationId xmlns:a16="http://schemas.microsoft.com/office/drawing/2014/main" id="{07C430C1-0EB2-F350-151C-834819B7D02D}"/>
              </a:ext>
            </a:extLst>
          </p:cNvPr>
          <p:cNvSpPr/>
          <p:nvPr/>
        </p:nvSpPr>
        <p:spPr>
          <a:xfrm>
            <a:off x="9777046" y="3094892"/>
            <a:ext cx="1519311" cy="1491175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34669D61-C684-C4B7-264A-861100192428}"/>
              </a:ext>
            </a:extLst>
          </p:cNvPr>
          <p:cNvSpPr/>
          <p:nvPr/>
        </p:nvSpPr>
        <p:spPr>
          <a:xfrm>
            <a:off x="9995093" y="3290388"/>
            <a:ext cx="1083213" cy="1083213"/>
          </a:xfrm>
          <a:prstGeom prst="flowChartConnector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DFDA56E-9FA2-66BC-0E03-CAAD1BE3F16B}"/>
              </a:ext>
            </a:extLst>
          </p:cNvPr>
          <p:cNvCxnSpPr>
            <a:cxnSpLocks/>
            <a:endCxn id="26" idx="6"/>
          </p:cNvCxnSpPr>
          <p:nvPr/>
        </p:nvCxnSpPr>
        <p:spPr>
          <a:xfrm flipH="1" flipV="1">
            <a:off x="7997478" y="2840192"/>
            <a:ext cx="2538637" cy="99684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6" name="Flowchart: Connector 25">
            <a:extLst>
              <a:ext uri="{FF2B5EF4-FFF2-40B4-BE49-F238E27FC236}">
                <a16:creationId xmlns:a16="http://schemas.microsoft.com/office/drawing/2014/main" id="{C788E57C-139D-7B9D-FB2C-C03F244A8C8C}"/>
              </a:ext>
            </a:extLst>
          </p:cNvPr>
          <p:cNvSpPr/>
          <p:nvPr/>
        </p:nvSpPr>
        <p:spPr>
          <a:xfrm>
            <a:off x="7180162" y="2461871"/>
            <a:ext cx="817316" cy="756641"/>
          </a:xfrm>
          <a:prstGeom prst="flowChartConnector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01</a:t>
            </a:r>
            <a:endParaRPr lang="en-IN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6F8AD1F-438C-EDFB-A520-CB42FA12915C}"/>
              </a:ext>
            </a:extLst>
          </p:cNvPr>
          <p:cNvCxnSpPr>
            <a:cxnSpLocks/>
            <a:endCxn id="34" idx="6"/>
          </p:cNvCxnSpPr>
          <p:nvPr/>
        </p:nvCxnSpPr>
        <p:spPr>
          <a:xfrm flipH="1">
            <a:off x="7997478" y="3807333"/>
            <a:ext cx="2538637" cy="5941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4" name="Flowchart: Connector 33">
            <a:extLst>
              <a:ext uri="{FF2B5EF4-FFF2-40B4-BE49-F238E27FC236}">
                <a16:creationId xmlns:a16="http://schemas.microsoft.com/office/drawing/2014/main" id="{0AF378FD-AB6A-39EC-AD93-0E2F89706562}"/>
              </a:ext>
            </a:extLst>
          </p:cNvPr>
          <p:cNvSpPr/>
          <p:nvPr/>
        </p:nvSpPr>
        <p:spPr>
          <a:xfrm>
            <a:off x="7180161" y="3471817"/>
            <a:ext cx="817317" cy="789856"/>
          </a:xfrm>
          <a:prstGeom prst="flowChartConnector">
            <a:avLst/>
          </a:prstGeom>
          <a:solidFill>
            <a:schemeClr val="tx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02</a:t>
            </a:r>
            <a:endParaRPr lang="en-IN" dirty="0"/>
          </a:p>
        </p:txBody>
      </p:sp>
      <p:sp>
        <p:nvSpPr>
          <p:cNvPr id="39" name="Flowchart: Connector 38">
            <a:extLst>
              <a:ext uri="{FF2B5EF4-FFF2-40B4-BE49-F238E27FC236}">
                <a16:creationId xmlns:a16="http://schemas.microsoft.com/office/drawing/2014/main" id="{B6C7B1A2-9C97-C089-374D-7EDD0DB92FC2}"/>
              </a:ext>
            </a:extLst>
          </p:cNvPr>
          <p:cNvSpPr/>
          <p:nvPr/>
        </p:nvSpPr>
        <p:spPr>
          <a:xfrm>
            <a:off x="7211159" y="4477504"/>
            <a:ext cx="817318" cy="789856"/>
          </a:xfrm>
          <a:prstGeom prst="flowChartConnector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03</a:t>
            </a:r>
            <a:endParaRPr lang="en-IN" dirty="0"/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212DD157-B49B-3756-2A97-E600A08B9C97}"/>
              </a:ext>
            </a:extLst>
          </p:cNvPr>
          <p:cNvCxnSpPr>
            <a:cxnSpLocks/>
            <a:stCxn id="39" idx="6"/>
          </p:cNvCxnSpPr>
          <p:nvPr/>
        </p:nvCxnSpPr>
        <p:spPr>
          <a:xfrm flipV="1">
            <a:off x="8028477" y="3821481"/>
            <a:ext cx="2455807" cy="105095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Flowchart: Connector 41">
            <a:extLst>
              <a:ext uri="{FF2B5EF4-FFF2-40B4-BE49-F238E27FC236}">
                <a16:creationId xmlns:a16="http://schemas.microsoft.com/office/drawing/2014/main" id="{4CEBE4BC-00DA-DF69-5A05-53D5C5B1A364}"/>
              </a:ext>
            </a:extLst>
          </p:cNvPr>
          <p:cNvSpPr/>
          <p:nvPr/>
        </p:nvSpPr>
        <p:spPr>
          <a:xfrm>
            <a:off x="7180161" y="5534034"/>
            <a:ext cx="848316" cy="789856"/>
          </a:xfrm>
          <a:prstGeom prst="flowChartConnector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04</a:t>
            </a:r>
            <a:endParaRPr lang="en-IN" dirty="0"/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60D9B839-88FB-5589-FB4B-9ADC6FDA4C28}"/>
              </a:ext>
            </a:extLst>
          </p:cNvPr>
          <p:cNvCxnSpPr>
            <a:cxnSpLocks/>
          </p:cNvCxnSpPr>
          <p:nvPr/>
        </p:nvCxnSpPr>
        <p:spPr>
          <a:xfrm flipV="1">
            <a:off x="8028477" y="3821481"/>
            <a:ext cx="2494157" cy="20211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Rectangle 53">
            <a:extLst>
              <a:ext uri="{FF2B5EF4-FFF2-40B4-BE49-F238E27FC236}">
                <a16:creationId xmlns:a16="http://schemas.microsoft.com/office/drawing/2014/main" id="{75AC0002-9FCC-72FB-3245-0A4A4E48A620}"/>
              </a:ext>
            </a:extLst>
          </p:cNvPr>
          <p:cNvSpPr/>
          <p:nvPr/>
        </p:nvSpPr>
        <p:spPr>
          <a:xfrm>
            <a:off x="2772642" y="2419232"/>
            <a:ext cx="3534806" cy="841918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customer journey across different ads</a:t>
            </a:r>
            <a:endParaRPr lang="en-IN" sz="2000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4956634-48E0-0107-FAAF-36337B97E72D}"/>
              </a:ext>
            </a:extLst>
          </p:cNvPr>
          <p:cNvSpPr/>
          <p:nvPr/>
        </p:nvSpPr>
        <p:spPr>
          <a:xfrm>
            <a:off x="2765020" y="3455879"/>
            <a:ext cx="3534807" cy="841918"/>
          </a:xfrm>
          <a:prstGeom prst="rect">
            <a:avLst/>
          </a:prstGeom>
          <a:solidFill>
            <a:schemeClr val="tx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which ads give more conversions.</a:t>
            </a:r>
          </a:p>
          <a:p>
            <a:pPr algn="ctr"/>
            <a:endParaRPr lang="en-IN" sz="2000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C76E0984-6609-00F7-71D2-F84B8275729B}"/>
              </a:ext>
            </a:extLst>
          </p:cNvPr>
          <p:cNvSpPr/>
          <p:nvPr/>
        </p:nvSpPr>
        <p:spPr>
          <a:xfrm>
            <a:off x="2746713" y="4570356"/>
            <a:ext cx="3550049" cy="841918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real performance of marketing campaigns.</a:t>
            </a:r>
          </a:p>
          <a:p>
            <a:pPr algn="ctr"/>
            <a:endParaRPr lang="en-IN" sz="2000" dirty="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CFEC5EA9-13FB-85E8-7231-ED7E54700406}"/>
              </a:ext>
            </a:extLst>
          </p:cNvPr>
          <p:cNvSpPr/>
          <p:nvPr/>
        </p:nvSpPr>
        <p:spPr>
          <a:xfrm>
            <a:off x="2746712" y="5731315"/>
            <a:ext cx="3550049" cy="841918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real performance of marketing campaigns.</a:t>
            </a:r>
          </a:p>
          <a:p>
            <a:pPr algn="ctr"/>
            <a:endParaRPr lang="en-IN" sz="2000" dirty="0"/>
          </a:p>
        </p:txBody>
      </p:sp>
      <p:sp>
        <p:nvSpPr>
          <p:cNvPr id="73" name="Flowchart: Connector 72">
            <a:extLst>
              <a:ext uri="{FF2B5EF4-FFF2-40B4-BE49-F238E27FC236}">
                <a16:creationId xmlns:a16="http://schemas.microsoft.com/office/drawing/2014/main" id="{2EF3D07A-F41E-1759-94E8-889166BBB928}"/>
              </a:ext>
            </a:extLst>
          </p:cNvPr>
          <p:cNvSpPr/>
          <p:nvPr/>
        </p:nvSpPr>
        <p:spPr>
          <a:xfrm>
            <a:off x="10413361" y="3681340"/>
            <a:ext cx="218047" cy="280281"/>
          </a:xfrm>
          <a:prstGeom prst="flowChartConnector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00942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55EE21-1B17-7C43-8DD5-7D7B34B42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27EBF-584A-F9B0-A672-2F22928F2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898" y="815593"/>
            <a:ext cx="10652760" cy="1450757"/>
          </a:xfrm>
        </p:spPr>
        <p:txBody>
          <a:bodyPr>
            <a:norm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GOALS</a:t>
            </a:r>
            <a:br>
              <a:rPr lang="en-IN" sz="4000" dirty="0"/>
            </a:br>
            <a:endParaRPr lang="en-IN" sz="40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C5BC297-618F-BEF2-C381-6754CA243B8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61424" y="2196123"/>
            <a:ext cx="11247120" cy="47910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marketing waste.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best performing ads.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profit from ads.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 in better budget decisions.</a:t>
            </a:r>
          </a:p>
          <a:p>
            <a:pPr>
              <a:lnSpc>
                <a:spcPct val="150000"/>
              </a:lnSpc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09798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24D3C-8D9A-31F8-FD20-A9658EBF5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967" y="809498"/>
            <a:ext cx="9613861" cy="1080938"/>
          </a:xfrm>
        </p:spPr>
        <p:txBody>
          <a:bodyPr/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ATTRIBUTION MODE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7D9158-C5B6-580C-DF66-4F318CD009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8967" y="2449186"/>
            <a:ext cx="11394066" cy="359931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helps understand real contribution of each ad.</a:t>
            </a:r>
          </a:p>
          <a:p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B9695A5-E171-1A45-214D-474D81F23D1D}"/>
              </a:ext>
            </a:extLst>
          </p:cNvPr>
          <p:cNvSpPr/>
          <p:nvPr/>
        </p:nvSpPr>
        <p:spPr>
          <a:xfrm>
            <a:off x="4625414" y="2839832"/>
            <a:ext cx="2836984" cy="1378634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Last Touch 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Last ad before purchase</a:t>
            </a:r>
            <a:endParaRPr lang="en-IN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19EA1A8-2C05-1F55-CF0C-A4772CB11AA0}"/>
              </a:ext>
            </a:extLst>
          </p:cNvPr>
          <p:cNvSpPr/>
          <p:nvPr/>
        </p:nvSpPr>
        <p:spPr>
          <a:xfrm>
            <a:off x="8594336" y="2839832"/>
            <a:ext cx="2836984" cy="1378634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Model 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Equal credit to all ads</a:t>
            </a:r>
            <a:endParaRPr lang="en-IN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06DFB2A-D4A0-B7A0-68AD-4240A00C0C1D}"/>
              </a:ext>
            </a:extLst>
          </p:cNvPr>
          <p:cNvSpPr/>
          <p:nvPr/>
        </p:nvSpPr>
        <p:spPr>
          <a:xfrm>
            <a:off x="602747" y="2839831"/>
            <a:ext cx="2836984" cy="1321929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Touch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ad clicked by user </a:t>
            </a:r>
          </a:p>
          <a:p>
            <a:pPr algn="ctr"/>
            <a:endParaRPr lang="en-IN" dirty="0"/>
          </a:p>
        </p:txBody>
      </p:sp>
      <p:sp>
        <p:nvSpPr>
          <p:cNvPr id="13" name="Arrow: Chevron 12">
            <a:extLst>
              <a:ext uri="{FF2B5EF4-FFF2-40B4-BE49-F238E27FC236}">
                <a16:creationId xmlns:a16="http://schemas.microsoft.com/office/drawing/2014/main" id="{BCB11BC4-BD6B-3D51-D979-D87AD4B85CA4}"/>
              </a:ext>
            </a:extLst>
          </p:cNvPr>
          <p:cNvSpPr/>
          <p:nvPr/>
        </p:nvSpPr>
        <p:spPr>
          <a:xfrm>
            <a:off x="3653604" y="3039242"/>
            <a:ext cx="764728" cy="979814"/>
          </a:xfrm>
          <a:prstGeom prst="chevron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4" name="Arrow: Chevron 13">
            <a:extLst>
              <a:ext uri="{FF2B5EF4-FFF2-40B4-BE49-F238E27FC236}">
                <a16:creationId xmlns:a16="http://schemas.microsoft.com/office/drawing/2014/main" id="{2F8AC116-291E-C1B2-D21A-F10332710087}"/>
              </a:ext>
            </a:extLst>
          </p:cNvPr>
          <p:cNvSpPr/>
          <p:nvPr/>
        </p:nvSpPr>
        <p:spPr>
          <a:xfrm>
            <a:off x="7676271" y="3039242"/>
            <a:ext cx="764728" cy="979814"/>
          </a:xfrm>
          <a:prstGeom prst="chevron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06796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72335-8FB7-1E9B-6825-DD72F1EA2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628" y="753227"/>
            <a:ext cx="9613861" cy="1080938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DC6CCBA-A88D-9813-BD13-7746E037A01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28628" y="2338500"/>
            <a:ext cx="9581469" cy="33432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fontAlgn="base">
              <a:lnSpc>
                <a:spcPct val="150000"/>
              </a:lnSpc>
              <a:spcAft>
                <a:spcPct val="0"/>
              </a:spcAft>
              <a:buClrTx/>
              <a:buSzTx/>
              <a:tabLst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Marketing attribution helps understand ad performance.</a:t>
            </a:r>
          </a:p>
          <a:p>
            <a:pPr marR="0" lvl="0" fontAlgn="base">
              <a:lnSpc>
                <a:spcPct val="150000"/>
              </a:lnSpc>
              <a:spcAft>
                <a:spcPct val="0"/>
              </a:spcAft>
              <a:buClrTx/>
              <a:buSzTx/>
              <a:tabLst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Multi-touch tracking is better than last-click method.</a:t>
            </a:r>
          </a:p>
          <a:p>
            <a:pPr marR="0" lvl="0" fontAlgn="base">
              <a:lnSpc>
                <a:spcPct val="150000"/>
              </a:lnSpc>
              <a:spcAft>
                <a:spcPct val="0"/>
              </a:spcAft>
              <a:buClrTx/>
              <a:buSzTx/>
              <a:tabLst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companies spend money wisely .</a:t>
            </a:r>
          </a:p>
          <a:p>
            <a:pPr marR="0" lvl="0" fontAlgn="base">
              <a:lnSpc>
                <a:spcPct val="150000"/>
              </a:lnSpc>
              <a:spcAft>
                <a:spcPct val="0"/>
              </a:spcAft>
              <a:buClrTx/>
              <a:buSzTx/>
              <a:tabLst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marketing decisions and ROI.</a:t>
            </a:r>
          </a:p>
        </p:txBody>
      </p:sp>
    </p:spTree>
    <p:extLst>
      <p:ext uri="{BB962C8B-B14F-4D97-AF65-F5344CB8AC3E}">
        <p14:creationId xmlns:p14="http://schemas.microsoft.com/office/powerpoint/2010/main" val="3957483240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6A9C41"/>
      </a:dk2>
      <a:lt2>
        <a:srgbClr val="E7E6E6"/>
      </a:lt2>
      <a:accent1>
        <a:srgbClr val="A7D535"/>
      </a:accent1>
      <a:accent2>
        <a:srgbClr val="EACA4F"/>
      </a:accent2>
      <a:accent3>
        <a:srgbClr val="FD9850"/>
      </a:accent3>
      <a:accent4>
        <a:srgbClr val="F46442"/>
      </a:accent4>
      <a:accent5>
        <a:srgbClr val="54D289"/>
      </a:accent5>
      <a:accent6>
        <a:srgbClr val="6AD8CB"/>
      </a:accent6>
      <a:hlink>
        <a:srgbClr val="CAFB50"/>
      </a:hlink>
      <a:folHlink>
        <a:srgbClr val="DEFF8B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92000"/>
                <a:satMod val="200000"/>
                <a:lumMod val="13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106000"/>
                <a:satMod val="120000"/>
                <a:lumMod val="7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B587E4A9-1405-4B4F-8BC3-512EE08D2EB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Berlin</Template>
  <TotalTime>85</TotalTime>
  <Words>215</Words>
  <Application>Microsoft Office PowerPoint</Application>
  <PresentationFormat>Widescreen</PresentationFormat>
  <Paragraphs>53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Times New Roman</vt:lpstr>
      <vt:lpstr>Trebuchet MS</vt:lpstr>
      <vt:lpstr>Berlin</vt:lpstr>
      <vt:lpstr>MULTI-TOUCH MARKETING ATTRIBUTION AND ROI DASHBOARD   </vt:lpstr>
      <vt:lpstr>INTRODUCTION</vt:lpstr>
      <vt:lpstr>PROBLEM STATEMENT </vt:lpstr>
      <vt:lpstr>OBJECTIVES</vt:lpstr>
      <vt:lpstr>BUSINESS GOALS </vt:lpstr>
      <vt:lpstr>ATTRIBUTION MODE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Sadananda</dc:creator>
  <cp:lastModifiedBy>Sadananda</cp:lastModifiedBy>
  <cp:revision>86</cp:revision>
  <dcterms:created xsi:type="dcterms:W3CDTF">2026-06-26T07:06:13Z</dcterms:created>
  <dcterms:modified xsi:type="dcterms:W3CDTF">2026-06-26T08:37:05Z</dcterms:modified>
</cp:coreProperties>
</file>